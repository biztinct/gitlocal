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7" r:id="rId2"/>
    <p:sldId id="265" r:id="rId3"/>
    <p:sldId id="266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4"/>
  </p:normalViewPr>
  <p:slideViewPr>
    <p:cSldViewPr snapToGrid="0">
      <p:cViewPr varScale="1">
        <p:scale>
          <a:sx n="124" d="100"/>
          <a:sy n="124" d="100"/>
        </p:scale>
        <p:origin x="6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ED5CF-B439-48C6-B026-DFA4E78ADD05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2CEE1-EB32-4C05-ABF3-D4B16D8C7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7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3892DD-EAA3-425A-9B4A-978FEA6C555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761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5148-ACD2-E3AE-124B-66A24264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B0C49-A0B0-F168-65CE-89E85C151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42D42-BE4C-EAD8-F616-70909E948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174DB-53D3-65CA-347A-A2CB8B40D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77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215FD7-DFE4-4E07-A72D-D483EEEA93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277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6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2CBB1-02C0-4AB1-C58E-9CD8A1F0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7D8EF-F59F-56B8-5682-517465D5F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7ADAA-3506-E73B-4F97-16AE80733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1C45C-1D79-3603-8B4E-0CA043915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77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215FD7-DFE4-4E07-A72D-D483EEEA93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277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22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B9DBC3-333A-778B-AC91-FAE338AA7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A49A749-9113-FE06-E736-D7948CF65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049023E-F810-EC62-407D-698AE1BD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F0F66B7-364B-4680-A51E-D44A4933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6BF8792-7D0F-2280-74C2-1E7C0970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8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DC100E8-1D06-4C1A-F505-7B70C927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1BCAB18-CE80-7EA8-A0C4-9723861C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B164F0B-06B8-FF7B-7E2D-7696778F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97D2834-03BA-D8DB-CA1F-B3A7C699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02E3320-BD15-BE35-ABAA-723589E6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1B18B32-2018-2BA5-E2FA-77297527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297BEFA-CCAD-ECC6-F7BF-552A94AD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A98DACE-9151-F9E3-0418-DA69BE13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C06462F-CADC-F906-C9A5-3A4F9C9C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BC0492D-2A7A-D146-D23E-BA4CFB9E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9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0CDADF9-DE95-5BFF-8F23-9E0212B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18A15F4-8C30-E974-01CF-BFEA0EC33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5DE3F7E-AFD8-0F4C-1016-C5EA708BB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7E06683-4F6D-C013-2EBB-71966642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630C082-CFFA-28DD-9CB5-E7748600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567D5D4-38B3-D97E-78A6-8131170B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2727109-0EDE-31FC-9630-846A08A2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2156D65-4309-E702-868E-E0A70953B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24EE203-5B53-8AD6-7195-43974DE7B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9F382F28-ED14-55BC-CEF0-6EE81DB8C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39A1DFB5-08E4-41E6-563C-3229D4A87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5AFF5868-7D5C-50B1-5949-A98D52C1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D74CF79E-6B89-4F02-E759-38AB6A85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A10D1644-1ECD-B123-6E76-BA7B6E99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8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7F03054-F291-9831-70EA-9A895CD1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3A01D7E6-26E8-B45D-C1E3-B98D7C7F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D2AD0F01-AD2A-73DB-F37F-4B4ADD6B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1ED6F9F4-4422-BC8F-85FB-B285340C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6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B9BA6594-4403-E73F-3BDB-92EAD97F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4E706CA8-DDCB-CC69-E064-98DB7640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19C267A-48ED-292D-9E25-1764CFA7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5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218AD7C-F585-1A23-6165-3CB631A1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5736592-93A0-871F-56B9-37D6A2A65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82F1517-B6F1-1FC6-8B49-C1557F326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684E398-404A-4670-EB22-BA27DD18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06DFE83-98EF-CF6B-F72B-98F8BC9D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C641790-6683-C6D5-39E2-D4251271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8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6360F3-3466-5DDC-E217-9301CCCA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338B1824-F869-712B-1A38-9AF86B1BB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D755FCE2-000D-DF75-308D-13B0B2B86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B64DC0C-03BB-087C-D899-86CDF7633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891E000-EB0D-24D3-FD4D-93B85D8B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2322D30-F428-D327-0EDA-9C70154D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006DB1-D632-EAE7-8E95-B7909683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702226B-4B21-AD1F-1108-F8AF910A0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EE76001-B2D5-307C-721D-B10A7ED4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0F0DC27-02AB-CBDB-7717-533AF399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3666285-EA61-D76A-62A8-76D65BB0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5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3B08C9E-90DC-6D5B-6E26-55CEDB841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26A3236-5429-A7D8-57BE-E29B6C83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278437D-1AC0-CCAB-8034-84C8C100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50AB301-CCC7-BF78-F4F9-8608A754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D8221A0-ECB0-78D5-B602-BB8EF688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0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ám ơn '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276ADF-2F9E-5FB2-6405-7BF9DD40DB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5"/>
            <a:ext cx="12192000" cy="6856292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22E000E-E442-DB1A-9152-32710E94AE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30283"/>
            <a:ext cx="10515600" cy="559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200" b="1">
                <a:solidFill>
                  <a:srgbClr val="00529C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TRÂN TRỌNG CÁM ƠN</a:t>
            </a:r>
          </a:p>
        </p:txBody>
      </p:sp>
    </p:spTree>
    <p:extLst>
      <p:ext uri="{BB962C8B-B14F-4D97-AF65-F5344CB8AC3E}">
        <p14:creationId xmlns:p14="http://schemas.microsoft.com/office/powerpoint/2010/main" val="112478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HACO_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F0019760-FADC-B024-A21B-F3CA796F59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" y="0"/>
            <a:ext cx="121909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64095F-1CA0-44FE-3A94-66EC7294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9680" y="1"/>
            <a:ext cx="9672320" cy="800100"/>
          </a:xfrm>
        </p:spPr>
        <p:txBody>
          <a:bodyPr anchor="ctr">
            <a:normAutofit/>
          </a:bodyPr>
          <a:lstStyle>
            <a:lvl1pPr algn="ctr">
              <a:defRPr sz="1882" b="1">
                <a:solidFill>
                  <a:srgbClr val="00529C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TIÊU ĐỀ</a:t>
            </a:r>
          </a:p>
        </p:txBody>
      </p:sp>
    </p:spTree>
    <p:extLst>
      <p:ext uri="{BB962C8B-B14F-4D97-AF65-F5344CB8AC3E}">
        <p14:creationId xmlns:p14="http://schemas.microsoft.com/office/powerpoint/2010/main" val="939895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êu đề '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FDDCBD-586C-EF12-4846-B827E72732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4"/>
            <a:ext cx="12192000" cy="6856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1D0713-93FB-536A-DA94-13AC6808D3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171699"/>
            <a:ext cx="9144000" cy="57626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rgbClr val="ED1B24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TIÊU ĐỀ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CF87D-4C5E-CA5C-60D6-C82EABA78B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771775"/>
            <a:ext cx="9144000" cy="42473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00529C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ĐƠN VỊ</a:t>
            </a:r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195C7A2-58A3-F884-5D6C-932C2B2982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0500" y="5226050"/>
            <a:ext cx="9271000" cy="355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00529C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…, </a:t>
            </a:r>
            <a:r>
              <a:rPr lang="en-US" err="1"/>
              <a:t>ngày</a:t>
            </a:r>
            <a:r>
              <a:rPr lang="en-US"/>
              <a:t> … </a:t>
            </a:r>
            <a:r>
              <a:rPr lang="en-US" err="1"/>
              <a:t>tháng</a:t>
            </a:r>
            <a:r>
              <a:rPr lang="en-US"/>
              <a:t> … </a:t>
            </a:r>
            <a:r>
              <a:rPr lang="en-US" err="1"/>
              <a:t>năm</a:t>
            </a:r>
            <a:r>
              <a:rPr lang="en-US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48835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1C5E0A9F-020E-7E6C-5E64-01F621BB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18EEBBB-1999-3A9F-67F5-24EAA7F74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79AAAA2-28C1-732D-5ACD-E5F39FB38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7DD5F-0AC5-4050-8F2D-E8256ABD1C16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14B4222-B7BD-ADC4-F79E-9F3874C63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55B5896-04B0-2628-1AF7-883208341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126D8-4189-4A8C-97A0-02269E3D1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4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00B7-FA5E-F16D-1FEF-95075DAF3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416628"/>
            <a:ext cx="11887200" cy="1915885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2700">
                <a:solidFill>
                  <a:srgbClr val="00529C"/>
                </a:solidFill>
                <a:cs typeface="Arial" panose="020B0604020202020204" pitchFamily="34" charset="0"/>
              </a:rPr>
              <a:t>KẾ HOẠCH TRIỂN KHAI TÍNH LƯƠNG</a:t>
            </a:r>
            <a:br>
              <a:rPr lang="en-US" sz="2700">
                <a:solidFill>
                  <a:srgbClr val="00529C"/>
                </a:solidFill>
                <a:cs typeface="Arial" panose="020B0604020202020204" pitchFamily="34" charset="0"/>
              </a:rPr>
            </a:br>
            <a:r>
              <a:rPr lang="en-US" sz="2700">
                <a:solidFill>
                  <a:srgbClr val="FF0000"/>
                </a:solidFill>
                <a:cs typeface="Arial" panose="020B0604020202020204" pitchFamily="34" charset="0"/>
              </a:rPr>
              <a:t>THACO &amp; TẬP ĐOÀN THÀNH VIÊN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9A8AA-0136-807A-CEE7-9635646DD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500" y="5326199"/>
            <a:ext cx="9271000" cy="355600"/>
          </a:xfrm>
        </p:spPr>
        <p:txBody>
          <a:bodyPr anchor="ctr">
            <a:normAutofit/>
          </a:bodyPr>
          <a:lstStyle/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TP. </a:t>
            </a:r>
            <a:r>
              <a:rPr kumimoji="0" lang="en-US" b="1" i="0" u="none" strike="noStrike" kern="1200" cap="none" spc="0" normalizeH="0" baseline="0" noProof="0" err="1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Hồ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 Chí Minh, </a:t>
            </a:r>
            <a:r>
              <a:rPr kumimoji="0" lang="en-US" b="1" i="0" u="none" strike="noStrike" kern="1200" cap="none" spc="0" normalizeH="0" baseline="0" noProof="0" err="1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ngày</a:t>
            </a:r>
            <a:r>
              <a:rPr lang="en-US">
                <a:latin typeface="Cambria"/>
                <a:ea typeface="Cambria"/>
                <a:cs typeface="Arial"/>
              </a:rPr>
              <a:t> 24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 </a:t>
            </a:r>
            <a:r>
              <a:rPr kumimoji="0" lang="en-US" b="1" i="0" u="none" strike="noStrike" kern="1200" cap="none" spc="0" normalizeH="0" baseline="0" noProof="0" err="1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tháng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 01</a:t>
            </a:r>
            <a:r>
              <a:rPr lang="en-US">
                <a:latin typeface="Cambria"/>
                <a:ea typeface="Cambria"/>
                <a:cs typeface="Arial"/>
              </a:rPr>
              <a:t> </a:t>
            </a:r>
            <a:r>
              <a:rPr kumimoji="0" lang="en-US" b="1" i="0" u="none" strike="noStrike" kern="1200" cap="none" spc="0" normalizeH="0" baseline="0" noProof="0" err="1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năm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529C"/>
                </a:solidFill>
                <a:effectLst/>
                <a:uLnTx/>
                <a:uFillTx/>
                <a:latin typeface="Cambria"/>
                <a:ea typeface="Cambria"/>
                <a:cs typeface="Arial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168933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8958-FBC4-25C9-D1C1-370C22F7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8682-B8D2-8102-FFEC-4FF0E02B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80" y="1"/>
            <a:ext cx="9672320" cy="800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>
                <a:cs typeface="Times New Roman" pitchFamily="18" charset="0"/>
              </a:rPr>
              <a:t>KẾ HOẠCH TRIỂN KHAI TÍNH LƯƠNG</a:t>
            </a:r>
            <a:br>
              <a:rPr lang="en-US">
                <a:cs typeface="Times New Roman" pitchFamily="18" charset="0"/>
              </a:rPr>
            </a:br>
            <a:r>
              <a:rPr lang="en-US">
                <a:solidFill>
                  <a:srgbClr val="FF0000"/>
                </a:solidFill>
                <a:cs typeface="Times New Roman" pitchFamily="18" charset="0"/>
              </a:rPr>
              <a:t>THACO &amp; TẬP ĐOÀN THÀNH VIÊN</a:t>
            </a:r>
            <a:endParaRPr lang="en-US" i="1">
              <a:solidFill>
                <a:srgbClr val="FF0000"/>
              </a:solidFill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12D4A0-12FE-1FD8-00C7-D49AA6445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97482"/>
              </p:ext>
            </p:extLst>
          </p:nvPr>
        </p:nvGraphicFramePr>
        <p:xfrm>
          <a:off x="44059" y="840888"/>
          <a:ext cx="12094151" cy="6260678"/>
        </p:xfrm>
        <a:graphic>
          <a:graphicData uri="http://schemas.openxmlformats.org/drawingml/2006/table">
            <a:tbl>
              <a:tblPr/>
              <a:tblGrid>
                <a:gridCol w="383711">
                  <a:extLst>
                    <a:ext uri="{9D8B030D-6E8A-4147-A177-3AD203B41FA5}">
                      <a16:colId xmlns:a16="http://schemas.microsoft.com/office/drawing/2014/main" val="1735273050"/>
                    </a:ext>
                  </a:extLst>
                </a:gridCol>
                <a:gridCol w="2470518">
                  <a:extLst>
                    <a:ext uri="{9D8B030D-6E8A-4147-A177-3AD203B41FA5}">
                      <a16:colId xmlns:a16="http://schemas.microsoft.com/office/drawing/2014/main" val="2826783164"/>
                    </a:ext>
                  </a:extLst>
                </a:gridCol>
                <a:gridCol w="1108911">
                  <a:extLst>
                    <a:ext uri="{9D8B030D-6E8A-4147-A177-3AD203B41FA5}">
                      <a16:colId xmlns:a16="http://schemas.microsoft.com/office/drawing/2014/main" val="3917672685"/>
                    </a:ext>
                  </a:extLst>
                </a:gridCol>
                <a:gridCol w="1108911">
                  <a:extLst>
                    <a:ext uri="{9D8B030D-6E8A-4147-A177-3AD203B41FA5}">
                      <a16:colId xmlns:a16="http://schemas.microsoft.com/office/drawing/2014/main" val="607689233"/>
                    </a:ext>
                  </a:extLst>
                </a:gridCol>
                <a:gridCol w="1306179">
                  <a:extLst>
                    <a:ext uri="{9D8B030D-6E8A-4147-A177-3AD203B41FA5}">
                      <a16:colId xmlns:a16="http://schemas.microsoft.com/office/drawing/2014/main" val="2571023269"/>
                    </a:ext>
                  </a:extLst>
                </a:gridCol>
                <a:gridCol w="1537984">
                  <a:extLst>
                    <a:ext uri="{9D8B030D-6E8A-4147-A177-3AD203B41FA5}">
                      <a16:colId xmlns:a16="http://schemas.microsoft.com/office/drawing/2014/main" val="4036107346"/>
                    </a:ext>
                  </a:extLst>
                </a:gridCol>
                <a:gridCol w="1460933">
                  <a:extLst>
                    <a:ext uri="{9D8B030D-6E8A-4147-A177-3AD203B41FA5}">
                      <a16:colId xmlns:a16="http://schemas.microsoft.com/office/drawing/2014/main" val="3943650189"/>
                    </a:ext>
                  </a:extLst>
                </a:gridCol>
                <a:gridCol w="2717004">
                  <a:extLst>
                    <a:ext uri="{9D8B030D-6E8A-4147-A177-3AD203B41FA5}">
                      <a16:colId xmlns:a16="http://schemas.microsoft.com/office/drawing/2014/main" val="4114858694"/>
                    </a:ext>
                  </a:extLst>
                </a:gridCol>
              </a:tblGrid>
              <a:tr h="327934">
                <a:tc rowSpan="2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TT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NỘI DUNG CÔNG VIỆC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THỜI GIAN</a:t>
                      </a: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BẮT ĐẦU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THỜI GIAN </a:t>
                      </a: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HOÀN THÀNH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TRÁCH NHIỆM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2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2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KẾT QUẢ THỰC HIỆN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18812"/>
                  </a:ext>
                </a:extLst>
              </a:tr>
              <a:tr h="327934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BAN CĐS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BAN NHÂN SỰ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ĐỐI TÁC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607015"/>
                  </a:ext>
                </a:extLst>
              </a:tr>
              <a:tr h="327934">
                <a:tc gridSpan="8">
                  <a:txBody>
                    <a:bodyPr/>
                    <a:lstStyle/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1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I. KHỞI ĐỘNG &amp; KHẢO SÁT YÊU CẦU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827841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Trình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phê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duyệt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tờ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trình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chủ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trương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khai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phần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mềm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tính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lương</a:t>
                      </a:r>
                      <a:r>
                        <a:rPr lang="en-US" sz="900" b="0" strike="noStrike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.</a:t>
                      </a:r>
                      <a:endParaRPr lang="vi-VN" sz="900" b="0" strike="noStrike" kern="120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23/01/2026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24/01/2026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sng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49129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Hoàn thành ký hợp đồng và khởi động dự án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26/01/2026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26/01/2026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</a:t>
                      </a: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Nga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103349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Thực hiện khảo sát yêu cầu THACO&amp;TĐTV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27/01/2026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28/01/2026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vi-V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Thaco will provide payslip calclulation excel file with formulas of all configurations required below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50614"/>
                  </a:ext>
                </a:extLst>
              </a:tr>
              <a:tr h="327934">
                <a:tc gridSpan="8">
                  <a:txBody>
                    <a:bodyPr/>
                    <a:lstStyle/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1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II. CHUẨN BỊ</a:t>
                      </a:r>
                      <a:endParaRPr lang="vi-VN" sz="900" b="1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378109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Lập đề xuất hạ tầng máy chủ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27/01/2026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27/01/2026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08881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Thiết lập hạ tầng máy chủ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28/01/2026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28/01/2026</a:t>
                      </a: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54438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Chuẩn bị tài liệu đạo tào người dùng (TL đào tạo, HDSD)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30/01/2026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30/01/2026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4848"/>
                  </a:ext>
                </a:extLst>
              </a:tr>
              <a:tr h="327934">
                <a:tc gridSpan="8">
                  <a:txBody>
                    <a:bodyPr/>
                    <a:lstStyle/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III. TRIỂN KHAI</a:t>
                      </a:r>
                      <a:endParaRPr lang="vi-VN" sz="900" b="1" kern="120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08308"/>
                  </a:ext>
                </a:extLst>
              </a:tr>
              <a:tr h="327934">
                <a:tc gridSpan="8">
                  <a:txBody>
                    <a:bodyPr/>
                    <a:lstStyle/>
                    <a:p>
                      <a:pPr marL="430271" lvl="1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 KHAI TẠI VPTQ THACO</a:t>
                      </a:r>
                      <a:endParaRPr lang="vi-VN" sz="900" b="1" kern="120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1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582079"/>
                  </a:ext>
                </a:extLst>
              </a:tr>
              <a:tr h="403809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phần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mềm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29/01/2026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29/01/2026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(Will need all API definition and field mapping at least 3 days before the Software configuration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ie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26/01/2026  </a:t>
                      </a:r>
                      <a:b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</a:b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Mapping required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eg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  HRMS API : Field "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EmpID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"  is mapped to Excel Column B : MSNV  and so on )</a:t>
                      </a: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827596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Đào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tạo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key user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31/01/2026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31/01/2026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42420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02/02/2026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04/02/2026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 Nga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683719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4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Xác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nhận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hoàn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05/02/2026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05/02/2026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Nga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797597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5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và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migrate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dữ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liệu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trên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môi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trường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Production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06/02/2026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06/02/2026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988602"/>
                  </a:ext>
                </a:extLst>
              </a:tr>
              <a:tr h="327934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6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khai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chính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thức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10/02/2026</a:t>
                      </a:r>
                      <a:endParaRPr lang="en-US" sz="900" b="0" strike="noStrike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Nga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807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83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BDD2-4676-EC2C-38C1-0EFE820F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C267-8AD4-95CD-9CA4-C50DCB289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680" y="1"/>
            <a:ext cx="9672320" cy="8001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>
                <a:cs typeface="Times New Roman" pitchFamily="18" charset="0"/>
              </a:rPr>
              <a:t>KẾ HOẠCH TRIỂN KHAI TÍNH LƯƠNG</a:t>
            </a:r>
            <a:br>
              <a:rPr lang="en-US">
                <a:cs typeface="Times New Roman" pitchFamily="18" charset="0"/>
              </a:rPr>
            </a:br>
            <a:r>
              <a:rPr lang="en-US">
                <a:solidFill>
                  <a:srgbClr val="FF0000"/>
                </a:solidFill>
                <a:cs typeface="Times New Roman" pitchFamily="18" charset="0"/>
              </a:rPr>
              <a:t>THACO &amp; TẬP ĐOÀN THÀNH VIÊN</a:t>
            </a:r>
            <a:endParaRPr lang="en-US" i="1">
              <a:solidFill>
                <a:srgbClr val="FF0000"/>
              </a:solidFill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4591C4-5CC6-14B3-2C81-AF3C0025B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52301"/>
              </p:ext>
            </p:extLst>
          </p:nvPr>
        </p:nvGraphicFramePr>
        <p:xfrm>
          <a:off x="44059" y="840887"/>
          <a:ext cx="12094151" cy="6781630"/>
        </p:xfrm>
        <a:graphic>
          <a:graphicData uri="http://schemas.openxmlformats.org/drawingml/2006/table">
            <a:tbl>
              <a:tblPr/>
              <a:tblGrid>
                <a:gridCol w="383711">
                  <a:extLst>
                    <a:ext uri="{9D8B030D-6E8A-4147-A177-3AD203B41FA5}">
                      <a16:colId xmlns:a16="http://schemas.microsoft.com/office/drawing/2014/main" val="1735273050"/>
                    </a:ext>
                  </a:extLst>
                </a:gridCol>
                <a:gridCol w="2470518">
                  <a:extLst>
                    <a:ext uri="{9D8B030D-6E8A-4147-A177-3AD203B41FA5}">
                      <a16:colId xmlns:a16="http://schemas.microsoft.com/office/drawing/2014/main" val="2826783164"/>
                    </a:ext>
                  </a:extLst>
                </a:gridCol>
                <a:gridCol w="1108911">
                  <a:extLst>
                    <a:ext uri="{9D8B030D-6E8A-4147-A177-3AD203B41FA5}">
                      <a16:colId xmlns:a16="http://schemas.microsoft.com/office/drawing/2014/main" val="3917672685"/>
                    </a:ext>
                  </a:extLst>
                </a:gridCol>
                <a:gridCol w="1108911">
                  <a:extLst>
                    <a:ext uri="{9D8B030D-6E8A-4147-A177-3AD203B41FA5}">
                      <a16:colId xmlns:a16="http://schemas.microsoft.com/office/drawing/2014/main" val="607689233"/>
                    </a:ext>
                  </a:extLst>
                </a:gridCol>
                <a:gridCol w="1306179">
                  <a:extLst>
                    <a:ext uri="{9D8B030D-6E8A-4147-A177-3AD203B41FA5}">
                      <a16:colId xmlns:a16="http://schemas.microsoft.com/office/drawing/2014/main" val="2571023269"/>
                    </a:ext>
                  </a:extLst>
                </a:gridCol>
                <a:gridCol w="1537984">
                  <a:extLst>
                    <a:ext uri="{9D8B030D-6E8A-4147-A177-3AD203B41FA5}">
                      <a16:colId xmlns:a16="http://schemas.microsoft.com/office/drawing/2014/main" val="4036107346"/>
                    </a:ext>
                  </a:extLst>
                </a:gridCol>
                <a:gridCol w="1460933">
                  <a:extLst>
                    <a:ext uri="{9D8B030D-6E8A-4147-A177-3AD203B41FA5}">
                      <a16:colId xmlns:a16="http://schemas.microsoft.com/office/drawing/2014/main" val="3943650189"/>
                    </a:ext>
                  </a:extLst>
                </a:gridCol>
                <a:gridCol w="2717004">
                  <a:extLst>
                    <a:ext uri="{9D8B030D-6E8A-4147-A177-3AD203B41FA5}">
                      <a16:colId xmlns:a16="http://schemas.microsoft.com/office/drawing/2014/main" val="4114858694"/>
                    </a:ext>
                  </a:extLst>
                </a:gridCol>
              </a:tblGrid>
              <a:tr h="285611">
                <a:tc rowSpan="2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TT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NỘI DUNG CÔNG VIỆC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THỜI GIAN</a:t>
                      </a: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BẮT ĐẦU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THỜI GIAN </a:t>
                      </a:r>
                    </a:p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HOÀN THÀNH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TRÁCH NHIỆM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2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2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KẾT QUẢ THỰC HIỆN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18812"/>
                  </a:ext>
                </a:extLst>
              </a:tr>
              <a:tr h="28561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BAN CĐS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BAN NHÂN SỰ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0" lang="en-US" sz="9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ĐỐI TÁC</a:t>
                      </a:r>
                      <a:endParaRPr kumimoji="0" lang="vi-VN" sz="9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endParaRPr kumimoji="0" lang="vi-VN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65433" marR="5453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607015"/>
                  </a:ext>
                </a:extLst>
              </a:tr>
              <a:tr h="285611">
                <a:tc gridSpan="8">
                  <a:txBody>
                    <a:bodyPr/>
                    <a:lstStyle/>
                    <a:p>
                      <a:pPr marL="0" indent="0" algn="l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1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III. TRIỂN KHAI</a:t>
                      </a:r>
                      <a:endParaRPr lang="vi-VN" sz="900" b="1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08308"/>
                  </a:ext>
                </a:extLst>
              </a:tr>
              <a:tr h="285611">
                <a:tc gridSpan="8">
                  <a:txBody>
                    <a:bodyPr/>
                    <a:lstStyle/>
                    <a:p>
                      <a:pPr marL="430271" marR="0" lvl="1" indent="0" algn="l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 KHAI TẠI </a:t>
                      </a:r>
                      <a:r>
                        <a:rPr lang="en-US" sz="900" b="1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THACO AUTO (KHỐI SẢN XUẤT), THACO INDUSTRIES, THILOGI</a:t>
                      </a:r>
                      <a:endParaRPr lang="vi-VN" sz="900" b="1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/>
                </a:tc>
                <a:extLst>
                  <a:ext uri="{0D108BD9-81ED-4DB2-BD59-A6C34878D82A}">
                    <a16:rowId xmlns:a16="http://schemas.microsoft.com/office/drawing/2014/main" val="3564720259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phần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mềm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30/01/2026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31/01/2026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Trang, </a:t>
                      </a: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Hoa, Anh Thắng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IADCX</a:t>
                      </a:r>
                      <a:endParaRPr lang="vi-VN" sz="900" b="0" kern="1200" noProof="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(Will need all API definition and field mapping at least 4 days before the Software configuration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ie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26/01/2026  </a:t>
                      </a:r>
                      <a:b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</a:b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Mapping required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eg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  HRMS API : Field "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EmpID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"  is mapped to Excel Column B : MSNV  and so on )</a:t>
                      </a:r>
                      <a:endParaRPr lang="vi-VN" sz="900" b="0" kern="1200" noProof="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687436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Đào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tạo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key user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02/02/2026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02/02/2026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IADCX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109724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03/02/2026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05/02/2026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 Trang, Chị Hoa, Anh Thắng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IADCX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818077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4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Xác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nhận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hoàn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06/02/2026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06/02/2026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Trang, </a:t>
                      </a: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Hoa, Anh Thắng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517288"/>
                  </a:ext>
                </a:extLst>
              </a:tr>
              <a:tr h="420127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5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và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migrate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dữ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liệu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trên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môi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trường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Production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IADCX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39126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defTabSz="860541" rtl="0" eaLnBrk="1" fontAlgn="ctr" latinLnBrk="0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6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khai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chính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thức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08/02/2026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10/02/2026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Trang, </a:t>
                      </a: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Hoa, Anh Thắng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IADCX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148908"/>
                  </a:ext>
                </a:extLst>
              </a:tr>
              <a:tr h="285611">
                <a:tc gridSpan="8">
                  <a:txBody>
                    <a:bodyPr/>
                    <a:lstStyle/>
                    <a:p>
                      <a:pPr marL="430271" marR="0" lvl="1" indent="0" algn="l" defTabSz="86054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 KHAI TẠI </a:t>
                      </a:r>
                      <a:r>
                        <a:rPr lang="en-US" sz="900" b="1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THACO AUTO (VPĐH + CTTT), ĐẠI QUANG MINH, THISO</a:t>
                      </a:r>
                      <a:endParaRPr lang="vi-VN" sz="900" b="1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46430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phần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mềm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31/01/2026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02/02/2026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Hằng, Anh Việt, Anh </a:t>
                      </a: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Lộc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(Will need all API definition and field mapping at least 5 days before the Software configuration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ie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26/01/2026  </a:t>
                      </a:r>
                      <a:b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</a:b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Mapping required 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eg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  HRMS API : Field "</a:t>
                      </a:r>
                      <a:r>
                        <a:rPr lang="en-US" sz="900" b="1" kern="1200" dirty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EmpID</a:t>
                      </a:r>
                      <a:r>
                        <a:rPr lang="en-US" sz="900" b="1" kern="1200" dirty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"  is mapped to Excel Column B : MSNV  and so on )</a:t>
                      </a: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847735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Đào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tạo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key user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03/03/2026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03/03/2026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65607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04/02/2026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06/02/2026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 Hằng, Anh Việt, Anh Lộc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50656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4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Xác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nhận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hoàn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kiểm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thử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 Hằng, Anh Việt, Anh </a:t>
                      </a:r>
                      <a:r>
                        <a:rPr kumimoji="0" 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Lộc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58626"/>
                  </a:ext>
                </a:extLst>
              </a:tr>
              <a:tr h="420127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5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Cấu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hình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và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migrate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dữ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liệu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trên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môi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trường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Production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09/02/2026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09/02/2026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Đằng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511461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6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Triển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khai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vận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hành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chính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thức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10/02/2026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13/02/2026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Hằng, Anh Việt, Anh </a:t>
                      </a:r>
                      <a:r>
                        <a:rPr lang="en-US" sz="900" b="0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Lộc</a:t>
                      </a:r>
                      <a:endParaRPr lang="vi-VN" sz="900" b="0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104457"/>
                  </a:ext>
                </a:extLst>
              </a:tr>
              <a:tr h="285611">
                <a:tc gridSpan="8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IV. HỖ TRỢ SAU GO-LIVE</a:t>
                      </a:r>
                      <a:endParaRPr lang="vi-VN" sz="900" b="1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04624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1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Hỗ trợ key user và ghi nhận góp ý (nếu có)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07/02/2026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30/03/2026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IADCX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636445"/>
                  </a:ext>
                </a:extLst>
              </a:tr>
              <a:tr h="285611"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900" b="0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</a:t>
                      </a:r>
                      <a:endParaRPr lang="vi-VN" sz="900" b="0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Lập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báo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cáo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đánh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giá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phần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mềm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và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nghiệm</a:t>
                      </a: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</a:t>
                      </a:r>
                      <a:r>
                        <a:rPr lang="en-US" sz="900" b="0" strike="noStrike" kern="120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thu</a:t>
                      </a:r>
                      <a:endParaRPr lang="vi-VN" sz="900" b="0" strike="noStrike" kern="120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25/03/2026</a:t>
                      </a: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30/03/2026</a:t>
                      </a:r>
                      <a:endParaRPr lang="en-US" sz="900" b="0" strike="noStrike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29C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</a:rPr>
                        <a:t>Anh Quang, Nên</a:t>
                      </a:r>
                      <a:endParaRPr kumimoji="0" lang="vi-VN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529C"/>
                        </a:solidFill>
                        <a:effectLst/>
                        <a:uLnTx/>
                        <a:uFillTx/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strike="noStrike" kern="1200" noProof="0" err="1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Chị</a:t>
                      </a:r>
                      <a:r>
                        <a:rPr lang="en-US" sz="900" b="0" strike="noStrike" kern="1200" noProof="0">
                          <a:solidFill>
                            <a:srgbClr val="00529C"/>
                          </a:solidFill>
                          <a:latin typeface="Cambria"/>
                          <a:ea typeface="Cambria"/>
                          <a:cs typeface="+mn-cs"/>
                        </a:rPr>
                        <a:t> Nga</a:t>
                      </a:r>
                      <a:endParaRPr lang="vi-VN" sz="900" b="0" strike="noStrike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 noProof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056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900" b="0" strike="noStrike" kern="1200" noProof="0" dirty="0">
                        <a:solidFill>
                          <a:srgbClr val="00529C"/>
                        </a:solidFill>
                        <a:latin typeface="Cambria"/>
                        <a:ea typeface="Cambria"/>
                        <a:cs typeface="+mn-cs"/>
                      </a:endParaRPr>
                    </a:p>
                  </a:txBody>
                  <a:tcPr marL="65433" marR="5453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0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63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B23691-6BD2-9087-3EC4-B86123B0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TRÂN TRỌNG CẢM ƠN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14684708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735</Words>
  <Application>Microsoft Macintosh PowerPoint</Application>
  <PresentationFormat>Widescreen</PresentationFormat>
  <Paragraphs>205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</vt:lpstr>
      <vt:lpstr>Times New Roman</vt:lpstr>
      <vt:lpstr>Wingdings</vt:lpstr>
      <vt:lpstr>Chủ đề Office</vt:lpstr>
      <vt:lpstr>KẾ HOẠCH TRIỂN KHAI TÍNH LƯƠNG THACO &amp; TẬP ĐOÀN THÀNH VIÊN</vt:lpstr>
      <vt:lpstr>KẾ HOẠCH TRIỂN KHAI TÍNH LƯƠNG THACO &amp; TẬP ĐOÀN THÀNH VIÊN</vt:lpstr>
      <vt:lpstr>KẾ HOẠCH TRIỂN KHAI TÍNH LƯƠNG THACO &amp; TẬP ĐOÀN THÀNH VIÊN</vt:lpstr>
      <vt:lpstr>TRÂN TRỌNG 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TRIỂN KHAI TÍNH LƯƠNG THACO &amp; TẬP ĐOÀN THÀNH VIÊN</dc:title>
  <dc:creator>Luu Duc Huy</dc:creator>
  <cp:lastModifiedBy>Ash Sohani</cp:lastModifiedBy>
  <cp:revision>4</cp:revision>
  <dcterms:created xsi:type="dcterms:W3CDTF">2026-01-24T06:02:26Z</dcterms:created>
  <dcterms:modified xsi:type="dcterms:W3CDTF">2026-01-24T12:07:20Z</dcterms:modified>
</cp:coreProperties>
</file>